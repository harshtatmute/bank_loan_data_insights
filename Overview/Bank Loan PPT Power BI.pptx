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7" r:id="rId3"/>
    <p:sldId id="268" r:id="rId4"/>
    <p:sldId id="269" r:id="rId5"/>
    <p:sldId id="266" r:id="rId6"/>
    <p:sldId id="270" r:id="rId7"/>
    <p:sldId id="271" r:id="rId8"/>
    <p:sldId id="256" r:id="rId9"/>
    <p:sldId id="257" r:id="rId10"/>
    <p:sldId id="258" r:id="rId11"/>
    <p:sldId id="261" r:id="rId12"/>
    <p:sldId id="262" r:id="rId13"/>
    <p:sldId id="263" r:id="rId14"/>
    <p:sldId id="264" r:id="rId15"/>
    <p:sldId id="259" r:id="rId16"/>
    <p:sldId id="273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74" d="100"/>
          <a:sy n="74" d="100"/>
        </p:scale>
        <p:origin x="57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20CDBFA-3603-645A-9EB2-BF18E33B1A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623B8327-55E4-1536-B4F6-FBD74A1753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F715BB0C-9460-BD86-EFB3-AB6659C26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89A56-B7BF-4EE2-A684-7373F14AFF3B}" type="datetimeFigureOut">
              <a:rPr lang="en-IN" smtClean="0"/>
              <a:t>25-12-2025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302C60DD-6F9A-8C55-2C9B-5C4E70AD6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C3D434C2-C539-549B-C05C-B98518AC5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5A8C5-EE7D-4E52-AF3E-16E9F1C18F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89248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D661F88-B833-1200-D3CF-EE837B082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9CC8CB8E-71BD-E0B3-64CF-7417B33BCE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927AA232-E33E-8A21-389D-F57473CF3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89A56-B7BF-4EE2-A684-7373F14AFF3B}" type="datetimeFigureOut">
              <a:rPr lang="en-IN" smtClean="0"/>
              <a:t>25-12-2025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033C86FC-555E-1772-0A31-2E81D8C84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A4983072-3545-FC11-E0FE-8FC24CF2E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5A8C5-EE7D-4E52-AF3E-16E9F1C18F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96558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E07C800-8FF8-1209-480E-6D31FB4B1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4BA770BE-4704-DD13-E41C-FDF47C5AC4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1CAB303D-4232-4156-EED1-1723C75B0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89A56-B7BF-4EE2-A684-7373F14AFF3B}" type="datetimeFigureOut">
              <a:rPr lang="en-IN" smtClean="0"/>
              <a:t>25-12-2025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674DEFFC-4535-7746-363E-449CCC413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B23B1815-6E61-12F0-67C6-5391B7A7E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5A8C5-EE7D-4E52-AF3E-16E9F1C18F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021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71973CA-2221-B6BA-247A-67888D17E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D8A66AE0-2950-2E07-2ADF-40ECF430F5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5B1802A0-C2B1-90B6-E2F4-4DA17A2E1D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21FC01AE-CCB7-63D9-CBBB-F645B0F4E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89A56-B7BF-4EE2-A684-7373F14AFF3B}" type="datetimeFigureOut">
              <a:rPr lang="en-IN" smtClean="0"/>
              <a:t>25-12-2025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FFE62A61-4168-26CC-93B3-683820DDE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4634E477-B40D-8D3E-6DC2-1AC9B036F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5A8C5-EE7D-4E52-AF3E-16E9F1C18F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02887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4865982-7856-A120-897F-D704730692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538D52EB-C6C9-14DB-C39F-05A13FAA7F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2F9939C4-C3A8-5DC6-5A03-4E06E5BD6A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="" xmlns:a16="http://schemas.microsoft.com/office/drawing/2014/main" id="{94451D85-6826-075A-E2DD-716FBE57BE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="" xmlns:a16="http://schemas.microsoft.com/office/drawing/2014/main" id="{DCA66085-DC5D-ED87-50D6-6609036B97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="" xmlns:a16="http://schemas.microsoft.com/office/drawing/2014/main" id="{DB8002D5-A8B9-4663-693D-13244095A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89A56-B7BF-4EE2-A684-7373F14AFF3B}" type="datetimeFigureOut">
              <a:rPr lang="en-IN" smtClean="0"/>
              <a:t>25-12-2025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="" xmlns:a16="http://schemas.microsoft.com/office/drawing/2014/main" id="{9A5C1A38-7DB7-27B3-EE2B-0FA8A1EA1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="" xmlns:a16="http://schemas.microsoft.com/office/drawing/2014/main" id="{69C0E241-9EDE-42DD-B32D-8D7A25957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5A8C5-EE7D-4E52-AF3E-16E9F1C18F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33828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2A3C722-C2C3-AD81-3B33-252378421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CF7C2B20-69F1-93CB-4468-49A7AC79F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89A56-B7BF-4EE2-A684-7373F14AFF3B}" type="datetimeFigureOut">
              <a:rPr lang="en-IN" smtClean="0"/>
              <a:t>25-12-2025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E4F5AEDF-21FC-20A9-A97C-010FF73619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54A905B7-E5B8-FCA6-C612-AD126D9F0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5A8C5-EE7D-4E52-AF3E-16E9F1C18F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02903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="" xmlns:a16="http://schemas.microsoft.com/office/drawing/2014/main" id="{B75F24FB-A0D9-0867-6BDA-FAA10E8AF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89A56-B7BF-4EE2-A684-7373F14AFF3B}" type="datetimeFigureOut">
              <a:rPr lang="en-IN" smtClean="0"/>
              <a:t>25-12-2025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="" xmlns:a16="http://schemas.microsoft.com/office/drawing/2014/main" id="{0528FC46-75DF-0D30-C8E5-88F2C5361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5FCC571C-B718-3EBF-2B95-85CEF876B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5A8C5-EE7D-4E52-AF3E-16E9F1C18F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20419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F9056D2-DEB1-30AE-51E1-EE91F66CA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425EAE68-FA8B-41E2-E3FB-36A46A154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573C4BCD-7C3D-22E6-24BE-7467A75922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0643662B-AE05-9268-0E56-CD679C6B2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89A56-B7BF-4EE2-A684-7373F14AFF3B}" type="datetimeFigureOut">
              <a:rPr lang="en-IN" smtClean="0"/>
              <a:t>25-12-2025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A6C6A849-17CD-A798-9990-6220B27F1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F18D7318-CA5C-54BF-3E83-9C376735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5A8C5-EE7D-4E52-AF3E-16E9F1C18F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8738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3EA8056-573E-5E0D-778E-4DE41CB98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="" xmlns:a16="http://schemas.microsoft.com/office/drawing/2014/main" id="{49A09817-F19E-6A4F-5FF8-2F3D3AAF11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65E0419C-229C-2594-B804-6EA9008830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1F38213C-4F0F-7E55-13F1-BAAD40951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89A56-B7BF-4EE2-A684-7373F14AFF3B}" type="datetimeFigureOut">
              <a:rPr lang="en-IN" smtClean="0"/>
              <a:t>25-12-2025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F47548F3-EEE0-2CB0-0510-48D1CC2F1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62F2A5B8-D47F-A235-0038-FCFC9CC90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5A8C5-EE7D-4E52-AF3E-16E9F1C18F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8694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8BC7D78-8517-28DA-A27A-D8FFDBD25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DE0457C4-E215-0637-C3AF-8C3D1FCBF2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70202C78-9EFE-DF28-A614-944782ADBF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89A56-B7BF-4EE2-A684-7373F14AFF3B}" type="datetimeFigureOut">
              <a:rPr lang="en-IN" smtClean="0"/>
              <a:t>25-12-2025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A01652D1-928F-44A9-D700-AA5F4C04F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7E23B83E-DE60-62A4-DDC6-0166638EF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5A8C5-EE7D-4E52-AF3E-16E9F1C18F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6247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="" xmlns:a16="http://schemas.microsoft.com/office/drawing/2014/main" id="{6C2510F1-7BC3-31D7-0266-19EAE7F797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89A19C68-55AF-AAF3-C65B-31A5C1D0EB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532AE636-CB51-D73D-DDB9-04342DEBA8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89A56-B7BF-4EE2-A684-7373F14AFF3B}" type="datetimeFigureOut">
              <a:rPr lang="en-IN" smtClean="0"/>
              <a:t>25-12-2025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24ABDAD9-6500-E41D-1CBB-7FC9126F68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1C568266-F247-C64C-3559-6A0C24440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5A8C5-EE7D-4E52-AF3E-16E9F1C18F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688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="" xmlns:a16="http://schemas.microsoft.com/office/drawing/2014/main" id="{2B916DC5-6480-E0BC-F1F7-D7E605F29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5E45A303-F574-AA86-3F6C-B592CDEE8A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E5335D02-92E6-CE42-BFE8-8029C2A42A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289A56-B7BF-4EE2-A684-7373F14AFF3B}" type="datetimeFigureOut">
              <a:rPr lang="en-IN" smtClean="0"/>
              <a:t>25-12-2025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8B90A4AE-F6D4-1200-163D-1FE1D2E81F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7EAA569D-EF3A-0E41-7F3B-0EDD07E67E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05A8C5-EE7D-4E52-AF3E-16E9F1C18F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98888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11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="" xmlns:a16="http://schemas.microsoft.com/office/drawing/2014/main" id="{EFD37F5C-B498-7E9E-7268-B898BED7C5C1}"/>
              </a:ext>
            </a:extLst>
          </p:cNvPr>
          <p:cNvSpPr txBox="1"/>
          <p:nvPr/>
        </p:nvSpPr>
        <p:spPr>
          <a:xfrm>
            <a:off x="2670913" y="3293972"/>
            <a:ext cx="684937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 smtClean="0">
                <a:solidFill>
                  <a:schemeClr val="accent5">
                    <a:lumMod val="20000"/>
                    <a:lumOff val="80000"/>
                  </a:schemeClr>
                </a:solidFill>
                <a:latin typeface="Lato Black" panose="020F0A02020204030203" pitchFamily="34" charset="0"/>
              </a:rPr>
              <a:t>MYSQL </a:t>
            </a:r>
          </a:p>
        </p:txBody>
      </p:sp>
      <p:pic>
        <p:nvPicPr>
          <p:cNvPr id="16" name="Picture 14" descr="Logo Mysql PNG Images, Free Download - Free Transparent PNG Logos">
            <a:extLst>
              <a:ext uri="{FF2B5EF4-FFF2-40B4-BE49-F238E27FC236}">
                <a16:creationId xmlns="" xmlns:a16="http://schemas.microsoft.com/office/drawing/2014/main" id="{CA1D7C9D-9E08-9075-9F65-42DE06B424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5874" y="4951406"/>
            <a:ext cx="1679450" cy="1761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="" xmlns:a16="http://schemas.microsoft.com/office/drawing/2014/main" id="{23AE5A38-1C90-91C3-C264-017362FE588D}"/>
              </a:ext>
            </a:extLst>
          </p:cNvPr>
          <p:cNvSpPr txBox="1"/>
          <p:nvPr/>
        </p:nvSpPr>
        <p:spPr>
          <a:xfrm>
            <a:off x="4990697" y="2194695"/>
            <a:ext cx="22098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800" dirty="0">
                <a:solidFill>
                  <a:srgbClr val="92D050"/>
                </a:solidFill>
                <a:latin typeface="Lato Black" panose="020F0A02020204030203" pitchFamily="34" charset="0"/>
              </a:rPr>
              <a:t>PART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="" xmlns:a16="http://schemas.microsoft.com/office/drawing/2014/main" id="{01F6CB98-36C5-38E5-0DF0-29D3168418DC}"/>
              </a:ext>
            </a:extLst>
          </p:cNvPr>
          <p:cNvSpPr txBox="1"/>
          <p:nvPr/>
        </p:nvSpPr>
        <p:spPr>
          <a:xfrm>
            <a:off x="0" y="157641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600" dirty="0">
                <a:solidFill>
                  <a:schemeClr val="accent4">
                    <a:lumMod val="60000"/>
                    <a:lumOff val="40000"/>
                  </a:schemeClr>
                </a:solidFill>
                <a:latin typeface="Lato Black" panose="020F0A02020204030203" pitchFamily="34" charset="0"/>
              </a:rPr>
              <a:t>DATA ANALYST </a:t>
            </a:r>
            <a:r>
              <a:rPr lang="en-IN" sz="3600" dirty="0">
                <a:solidFill>
                  <a:schemeClr val="bg1"/>
                </a:solidFill>
                <a:latin typeface="Lato Black" panose="020F0A02020204030203" pitchFamily="34" charset="0"/>
              </a:rPr>
              <a:t>PORTFOLIO PROJECT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="" xmlns:a16="http://schemas.microsoft.com/office/drawing/2014/main" id="{E8907EC3-CB54-081F-6806-59FB3EDC3F65}"/>
              </a:ext>
            </a:extLst>
          </p:cNvPr>
          <p:cNvSpPr txBox="1"/>
          <p:nvPr/>
        </p:nvSpPr>
        <p:spPr>
          <a:xfrm>
            <a:off x="475491" y="1102030"/>
            <a:ext cx="1124021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rgbClr val="FFFF00"/>
                </a:solidFill>
                <a:latin typeface="Lato Black" panose="020F0A02020204030203" pitchFamily="34" charset="0"/>
              </a:rPr>
              <a:t>BANK LOAN ANALYSIS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="" xmlns:a16="http://schemas.microsoft.com/office/drawing/2014/main" id="{FE325C91-5367-908E-9FBA-338517C802F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9750" y="157641"/>
            <a:ext cx="1309464" cy="944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8530246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="" xmlns:a16="http://schemas.microsoft.com/office/drawing/2014/main" id="{FE325C91-5367-908E-9FBA-338517C802F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9750" y="157641"/>
            <a:ext cx="1309464" cy="94438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C3F29DCE-4F9B-3E06-25A9-49C99130379C}"/>
              </a:ext>
            </a:extLst>
          </p:cNvPr>
          <p:cNvSpPr txBox="1"/>
          <p:nvPr/>
        </p:nvSpPr>
        <p:spPr>
          <a:xfrm>
            <a:off x="436352" y="1310135"/>
            <a:ext cx="1890980" cy="646331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r"/>
            <a:r>
              <a:rPr lang="en-IN" sz="3600" b="1" dirty="0">
                <a:solidFill>
                  <a:schemeClr val="accent4"/>
                </a:solidFill>
              </a:rPr>
              <a:t>IMPORT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4FEE5224-59D0-0CB4-D868-7B2A980DA320}"/>
              </a:ext>
            </a:extLst>
          </p:cNvPr>
          <p:cNvSpPr txBox="1"/>
          <p:nvPr/>
        </p:nvSpPr>
        <p:spPr>
          <a:xfrm>
            <a:off x="2327698" y="1310135"/>
            <a:ext cx="1226385" cy="646331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3600" b="1" dirty="0">
                <a:solidFill>
                  <a:schemeClr val="accent1">
                    <a:lumMod val="75000"/>
                  </a:schemeClr>
                </a:solidFill>
              </a:rPr>
              <a:t>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33BF6A62-6D9A-3528-4276-57102C0BF48F}"/>
              </a:ext>
            </a:extLst>
          </p:cNvPr>
          <p:cNvSpPr txBox="1"/>
          <p:nvPr/>
        </p:nvSpPr>
        <p:spPr>
          <a:xfrm>
            <a:off x="2148787" y="134233"/>
            <a:ext cx="504789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800" dirty="0" smtClean="0">
                <a:solidFill>
                  <a:schemeClr val="accent5">
                    <a:lumMod val="20000"/>
                    <a:lumOff val="80000"/>
                  </a:schemeClr>
                </a:solidFill>
                <a:latin typeface="Lato Black" panose="020F0A02020204030203" pitchFamily="34" charset="0"/>
              </a:rPr>
              <a:t>MYSQL </a:t>
            </a:r>
            <a:endParaRPr lang="en-IN" sz="4800" dirty="0">
              <a:solidFill>
                <a:schemeClr val="accent5">
                  <a:lumMod val="20000"/>
                  <a:lumOff val="80000"/>
                </a:schemeClr>
              </a:solidFill>
              <a:latin typeface="Lato Black" panose="020F0A02020204030203" pitchFamily="34" charset="0"/>
            </a:endParaRPr>
          </a:p>
        </p:txBody>
      </p:sp>
      <p:pic>
        <p:nvPicPr>
          <p:cNvPr id="7" name="Picture 14" descr="Logo Mysql PNG Images, Free Download - Free Transparent PNG Logos">
            <a:extLst>
              <a:ext uri="{FF2B5EF4-FFF2-40B4-BE49-F238E27FC236}">
                <a16:creationId xmlns="" xmlns:a16="http://schemas.microsoft.com/office/drawing/2014/main" id="{CB2ECD20-9715-9840-D011-C5E6334BEB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1516" y="304283"/>
            <a:ext cx="620658" cy="6511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72646651-4D07-638D-94AF-12C3ADD276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5940" y="1323014"/>
            <a:ext cx="6222520" cy="5366087"/>
          </a:xfrm>
          <a:prstGeom prst="rect">
            <a:avLst/>
          </a:prstGeom>
        </p:spPr>
      </p:pic>
      <p:pic>
        <p:nvPicPr>
          <p:cNvPr id="9" name="Picture 18" descr="Data Import / Export through files — CMDBuild">
            <a:extLst>
              <a:ext uri="{FF2B5EF4-FFF2-40B4-BE49-F238E27FC236}">
                <a16:creationId xmlns="" xmlns:a16="http://schemas.microsoft.com/office/drawing/2014/main" id="{9851E5A0-2C71-1CF7-360D-B0C080A496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463" y="2147246"/>
            <a:ext cx="4050649" cy="4050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4028527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="" xmlns:a16="http://schemas.microsoft.com/office/drawing/2014/main" id="{FE325C91-5367-908E-9FBA-338517C802F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9750" y="157641"/>
            <a:ext cx="1309464" cy="94438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6A577A3C-8BDB-56BA-633E-16205B278E35}"/>
              </a:ext>
            </a:extLst>
          </p:cNvPr>
          <p:cNvSpPr txBox="1"/>
          <p:nvPr/>
        </p:nvSpPr>
        <p:spPr>
          <a:xfrm>
            <a:off x="436352" y="1310135"/>
            <a:ext cx="2237836" cy="646331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r"/>
            <a:r>
              <a:rPr lang="en-IN" sz="3600" b="1" dirty="0">
                <a:solidFill>
                  <a:schemeClr val="accent4"/>
                </a:solidFill>
              </a:rPr>
              <a:t>CREATING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="" xmlns:a16="http://schemas.microsoft.com/office/drawing/2014/main" id="{5A05D65C-FEF3-B4EA-EBB1-061EF5E4281C}"/>
              </a:ext>
            </a:extLst>
          </p:cNvPr>
          <p:cNvSpPr txBox="1"/>
          <p:nvPr/>
        </p:nvSpPr>
        <p:spPr>
          <a:xfrm>
            <a:off x="2674189" y="1310135"/>
            <a:ext cx="879894" cy="646331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3600" b="1" dirty="0">
                <a:solidFill>
                  <a:schemeClr val="accent1">
                    <a:lumMod val="75000"/>
                  </a:schemeClr>
                </a:solidFill>
              </a:rPr>
              <a:t>DB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="" xmlns:a16="http://schemas.microsoft.com/office/drawing/2014/main" id="{9D2C5993-1A7E-2257-A719-633485B11CEA}"/>
              </a:ext>
            </a:extLst>
          </p:cNvPr>
          <p:cNvSpPr txBox="1"/>
          <p:nvPr/>
        </p:nvSpPr>
        <p:spPr>
          <a:xfrm>
            <a:off x="1991608" y="214336"/>
            <a:ext cx="504789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800" dirty="0">
                <a:solidFill>
                  <a:schemeClr val="accent5">
                    <a:lumMod val="20000"/>
                    <a:lumOff val="80000"/>
                  </a:schemeClr>
                </a:solidFill>
                <a:latin typeface="Lato Black" panose="020F0A02020204030203" pitchFamily="34" charset="0"/>
              </a:rPr>
              <a:t>MYSQL </a:t>
            </a:r>
            <a:endParaRPr lang="en-IN" sz="4800" dirty="0">
              <a:solidFill>
                <a:schemeClr val="accent5">
                  <a:lumMod val="20000"/>
                  <a:lumOff val="80000"/>
                </a:schemeClr>
              </a:solidFill>
              <a:latin typeface="Lato Black" panose="020F0A02020204030203" pitchFamily="34" charset="0"/>
            </a:endParaRPr>
          </a:p>
        </p:txBody>
      </p:sp>
      <p:pic>
        <p:nvPicPr>
          <p:cNvPr id="15" name="Picture 14" descr="Logo Mysql PNG Images, Free Download - Free Transparent PNG Logos">
            <a:extLst>
              <a:ext uri="{FF2B5EF4-FFF2-40B4-BE49-F238E27FC236}">
                <a16:creationId xmlns="" xmlns:a16="http://schemas.microsoft.com/office/drawing/2014/main" id="{20D987B5-B900-B9DD-C73E-1C07E5E44E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1779" y="283096"/>
            <a:ext cx="620658" cy="6511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5">
            <a:extLst>
              <a:ext uri="{FF2B5EF4-FFF2-40B4-BE49-F238E27FC236}">
                <a16:creationId xmlns="" xmlns:a16="http://schemas.microsoft.com/office/drawing/2014/main" id="{B01ADDCE-0998-425D-9A58-EE016290BB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5940" y="1310135"/>
            <a:ext cx="6222520" cy="5366087"/>
          </a:xfrm>
          <a:prstGeom prst="rect">
            <a:avLst/>
          </a:prstGeom>
        </p:spPr>
      </p:pic>
      <p:pic>
        <p:nvPicPr>
          <p:cNvPr id="17" name="Picture 2" descr="Add, create, database, hd, new, plus, server icon - Download on Iconfinder">
            <a:extLst>
              <a:ext uri="{FF2B5EF4-FFF2-40B4-BE49-F238E27FC236}">
                <a16:creationId xmlns="" xmlns:a16="http://schemas.microsoft.com/office/drawing/2014/main" id="{088B7569-922A-9A8F-8B55-FBDCEF0A77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827" y="2708337"/>
            <a:ext cx="2839528" cy="28395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8010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="" xmlns:a16="http://schemas.microsoft.com/office/drawing/2014/main" id="{FE325C91-5367-908E-9FBA-338517C802F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9750" y="157641"/>
            <a:ext cx="1309464" cy="94438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CA2A3D0D-DDF0-B75E-2E66-13E023613410}"/>
              </a:ext>
            </a:extLst>
          </p:cNvPr>
          <p:cNvSpPr txBox="1"/>
          <p:nvPr/>
        </p:nvSpPr>
        <p:spPr>
          <a:xfrm>
            <a:off x="603850" y="1310135"/>
            <a:ext cx="1940943" cy="646331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r"/>
            <a:r>
              <a:rPr lang="en-IN" sz="3600" b="1" dirty="0">
                <a:solidFill>
                  <a:schemeClr val="accent4"/>
                </a:solidFill>
              </a:rPr>
              <a:t>WRITING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4CDF014E-E113-E267-1E2F-E2465BD5AC91}"/>
              </a:ext>
            </a:extLst>
          </p:cNvPr>
          <p:cNvSpPr txBox="1"/>
          <p:nvPr/>
        </p:nvSpPr>
        <p:spPr>
          <a:xfrm>
            <a:off x="2544794" y="1310135"/>
            <a:ext cx="1858993" cy="646331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3600" b="1" dirty="0">
                <a:solidFill>
                  <a:schemeClr val="accent1">
                    <a:lumMod val="75000"/>
                  </a:schemeClr>
                </a:solidFill>
              </a:rPr>
              <a:t>QUERIES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2526BBC7-AD07-89BE-CDAF-EF8C8ED20231}"/>
              </a:ext>
            </a:extLst>
          </p:cNvPr>
          <p:cNvSpPr txBox="1"/>
          <p:nvPr/>
        </p:nvSpPr>
        <p:spPr>
          <a:xfrm>
            <a:off x="1740851" y="93867"/>
            <a:ext cx="504789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800" dirty="0" smtClean="0">
                <a:solidFill>
                  <a:schemeClr val="accent5">
                    <a:lumMod val="20000"/>
                    <a:lumOff val="80000"/>
                  </a:schemeClr>
                </a:solidFill>
                <a:latin typeface="Lato Black" panose="020F0A02020204030203" pitchFamily="34" charset="0"/>
              </a:rPr>
              <a:t>MYSQL</a:t>
            </a:r>
            <a:endParaRPr lang="en-IN" sz="4800" dirty="0">
              <a:solidFill>
                <a:schemeClr val="accent5">
                  <a:lumMod val="20000"/>
                  <a:lumOff val="80000"/>
                </a:schemeClr>
              </a:solidFill>
              <a:latin typeface="Lato Black" panose="020F0A02020204030203" pitchFamily="34" charset="0"/>
            </a:endParaRPr>
          </a:p>
        </p:txBody>
      </p:sp>
      <p:pic>
        <p:nvPicPr>
          <p:cNvPr id="6" name="Picture 14" descr="Logo Mysql PNG Images, Free Download - Free Transparent PNG Logos">
            <a:extLst>
              <a:ext uri="{FF2B5EF4-FFF2-40B4-BE49-F238E27FC236}">
                <a16:creationId xmlns="" xmlns:a16="http://schemas.microsoft.com/office/drawing/2014/main" id="{3E80D00F-6EA5-9A4C-EC8A-63F38E357D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3663" y="214394"/>
            <a:ext cx="620658" cy="6511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01A6FD57-88FE-9417-94A8-05E1D5F38A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902" y="2194639"/>
            <a:ext cx="11600196" cy="4212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425389"/>
      </p:ext>
    </p:extLst>
  </p:cSld>
  <p:clrMapOvr>
    <a:masterClrMapping/>
  </p:clrMapOvr>
  <p:transition spd="slow">
    <p:cov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="" xmlns:a16="http://schemas.microsoft.com/office/drawing/2014/main" id="{A7B21A84-16ED-E315-0365-C99EA56D38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40" y="2042239"/>
            <a:ext cx="11600196" cy="42124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98B2E6D4-5C36-6630-22D9-2DE480A57460}"/>
              </a:ext>
            </a:extLst>
          </p:cNvPr>
          <p:cNvSpPr txBox="1"/>
          <p:nvPr/>
        </p:nvSpPr>
        <p:spPr>
          <a:xfrm>
            <a:off x="219966" y="123823"/>
            <a:ext cx="1943416" cy="646331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3600" b="1" dirty="0">
                <a:solidFill>
                  <a:srgbClr val="FFFF00"/>
                </a:solidFill>
              </a:rPr>
              <a:t>SQL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126798A0-186C-3BE6-84AB-0BA49EB106B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7131" y="123823"/>
            <a:ext cx="434013" cy="584775"/>
          </a:xfrm>
          <a:prstGeom prst="rect">
            <a:avLst/>
          </a:prstGeom>
          <a:effectLst>
            <a:glow rad="63500">
              <a:schemeClr val="bg1">
                <a:alpha val="23000"/>
              </a:schemeClr>
            </a:glow>
          </a:effectLst>
        </p:spPr>
      </p:pic>
      <p:sp>
        <p:nvSpPr>
          <p:cNvPr id="9" name="TextBox 8">
            <a:extLst>
              <a:ext uri="{FF2B5EF4-FFF2-40B4-BE49-F238E27FC236}">
                <a16:creationId xmlns="" xmlns:a16="http://schemas.microsoft.com/office/drawing/2014/main" id="{7B857CFF-1124-05A4-7DD1-784492F973DC}"/>
              </a:ext>
            </a:extLst>
          </p:cNvPr>
          <p:cNvSpPr txBox="1"/>
          <p:nvPr/>
        </p:nvSpPr>
        <p:spPr>
          <a:xfrm>
            <a:off x="552451" y="818455"/>
            <a:ext cx="110013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6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FIRING SQL QUERIES TO SOLVE THE BUSINESS PROBLEMS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2FB230D0-E6A4-BA14-A14A-48AC7409EDA1}"/>
              </a:ext>
            </a:extLst>
          </p:cNvPr>
          <p:cNvSpPr txBox="1"/>
          <p:nvPr/>
        </p:nvSpPr>
        <p:spPr>
          <a:xfrm>
            <a:off x="552451" y="1445736"/>
            <a:ext cx="11001374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400" b="1" dirty="0">
                <a:solidFill>
                  <a:srgbClr val="FFFF00"/>
                </a:solidFill>
              </a:rPr>
              <a:t>COMPARING RESULTS WITH POWER BI, TABLEAU and EXCEL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34EEA4A0-4AF0-B634-EFAA-19F25C170AAC}"/>
              </a:ext>
            </a:extLst>
          </p:cNvPr>
          <p:cNvSpPr txBox="1"/>
          <p:nvPr/>
        </p:nvSpPr>
        <p:spPr>
          <a:xfrm>
            <a:off x="0" y="6228840"/>
            <a:ext cx="12192000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900" b="1" i="1" dirty="0">
                <a:solidFill>
                  <a:srgbClr val="92D050"/>
                </a:solidFill>
              </a:rPr>
              <a:t>You can use the data in any DB to fire queries. Queries used will remain same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="" xmlns:a16="http://schemas.microsoft.com/office/drawing/2014/main" id="{1E8BEBC9-98D8-041D-95F3-3951B265A9B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5091" y="47938"/>
            <a:ext cx="1137468" cy="820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737912"/>
      </p:ext>
    </p:extLst>
  </p:cSld>
  <p:clrMapOvr>
    <a:masterClrMapping/>
  </p:clrMapOvr>
  <p:transition spd="slow">
    <p:cov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="" xmlns:a16="http://schemas.microsoft.com/office/drawing/2014/main" id="{EFD37F5C-B498-7E9E-7268-B898BED7C5C1}"/>
              </a:ext>
            </a:extLst>
          </p:cNvPr>
          <p:cNvSpPr txBox="1"/>
          <p:nvPr/>
        </p:nvSpPr>
        <p:spPr>
          <a:xfrm>
            <a:off x="2670913" y="3293972"/>
            <a:ext cx="684937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Lato Black" panose="020F0A02020204030203" pitchFamily="34" charset="0"/>
              </a:rPr>
              <a:t>POWER BI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="" xmlns:a16="http://schemas.microsoft.com/office/drawing/2014/main" id="{23AE5A38-1C90-91C3-C264-017362FE588D}"/>
              </a:ext>
            </a:extLst>
          </p:cNvPr>
          <p:cNvSpPr txBox="1"/>
          <p:nvPr/>
        </p:nvSpPr>
        <p:spPr>
          <a:xfrm>
            <a:off x="4990697" y="2194695"/>
            <a:ext cx="22098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800" dirty="0">
                <a:solidFill>
                  <a:srgbClr val="00B0F0"/>
                </a:solidFill>
                <a:latin typeface="Lato Black" panose="020F0A02020204030203" pitchFamily="34" charset="0"/>
              </a:rPr>
              <a:t>PART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="" xmlns:a16="http://schemas.microsoft.com/office/drawing/2014/main" id="{01F6CB98-36C5-38E5-0DF0-29D3168418DC}"/>
              </a:ext>
            </a:extLst>
          </p:cNvPr>
          <p:cNvSpPr txBox="1"/>
          <p:nvPr/>
        </p:nvSpPr>
        <p:spPr>
          <a:xfrm>
            <a:off x="0" y="157641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600" dirty="0">
                <a:solidFill>
                  <a:srgbClr val="00B0F0"/>
                </a:solidFill>
                <a:latin typeface="Lato Black" panose="020F0A02020204030203" pitchFamily="34" charset="0"/>
              </a:rPr>
              <a:t>DATA ANALYST </a:t>
            </a:r>
            <a:r>
              <a:rPr lang="en-IN" sz="3600" dirty="0">
                <a:solidFill>
                  <a:schemeClr val="bg1"/>
                </a:solidFill>
                <a:latin typeface="Lato Black" panose="020F0A02020204030203" pitchFamily="34" charset="0"/>
              </a:rPr>
              <a:t>PORTFOLIO PROJECT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="" xmlns:a16="http://schemas.microsoft.com/office/drawing/2014/main" id="{E8907EC3-CB54-081F-6806-59FB3EDC3F65}"/>
              </a:ext>
            </a:extLst>
          </p:cNvPr>
          <p:cNvSpPr txBox="1"/>
          <p:nvPr/>
        </p:nvSpPr>
        <p:spPr>
          <a:xfrm>
            <a:off x="475491" y="1102030"/>
            <a:ext cx="1124021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rgbClr val="FFFF00"/>
                </a:solidFill>
                <a:latin typeface="Lato Black" panose="020F0A02020204030203" pitchFamily="34" charset="0"/>
              </a:rPr>
              <a:t>BANK LOAN ANALYSIS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="" xmlns:a16="http://schemas.microsoft.com/office/drawing/2014/main" id="{FE325C91-5367-908E-9FBA-338517C802F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9750" y="157641"/>
            <a:ext cx="1309464" cy="94438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="" xmlns:a16="http://schemas.microsoft.com/office/drawing/2014/main" id="{B565E50B-F93A-78F0-AFD4-036E6BED0E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5969" y="4399579"/>
            <a:ext cx="3619260" cy="2035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682535"/>
      </p:ext>
    </p:extLst>
  </p:cSld>
  <p:clrMapOvr>
    <a:masterClrMapping/>
  </p:clrMapOvr>
  <p:transition spd="slow">
    <p:cov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="" xmlns:a16="http://schemas.microsoft.com/office/drawing/2014/main" id="{FE325C91-5367-908E-9FBA-338517C802F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9750" y="157641"/>
            <a:ext cx="1309464" cy="94438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BE5492AE-9AD7-DEAB-9741-FFEB9D5B71D4}"/>
              </a:ext>
            </a:extLst>
          </p:cNvPr>
          <p:cNvSpPr txBox="1"/>
          <p:nvPr/>
        </p:nvSpPr>
        <p:spPr>
          <a:xfrm>
            <a:off x="436352" y="1232497"/>
            <a:ext cx="3471414" cy="646331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r"/>
            <a:r>
              <a:rPr lang="en-IN" sz="3600" b="1" dirty="0">
                <a:solidFill>
                  <a:schemeClr val="accent4"/>
                </a:solidFill>
              </a:rPr>
              <a:t>CONNECTING TO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F2B21082-DB76-800E-F7F3-8336A6EA7FD6}"/>
              </a:ext>
            </a:extLst>
          </p:cNvPr>
          <p:cNvSpPr txBox="1"/>
          <p:nvPr/>
        </p:nvSpPr>
        <p:spPr>
          <a:xfrm>
            <a:off x="3914583" y="1235891"/>
            <a:ext cx="3204184" cy="646331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3600" b="1" dirty="0">
                <a:solidFill>
                  <a:schemeClr val="accent1">
                    <a:lumMod val="75000"/>
                  </a:schemeClr>
                </a:solidFill>
              </a:rPr>
              <a:t>MS SQL SERVER</a:t>
            </a:r>
          </a:p>
        </p:txBody>
      </p:sp>
      <p:pic>
        <p:nvPicPr>
          <p:cNvPr id="4" name="Picture 12" descr="Sql server - Free logo icons">
            <a:extLst>
              <a:ext uri="{FF2B5EF4-FFF2-40B4-BE49-F238E27FC236}">
                <a16:creationId xmlns="" xmlns:a16="http://schemas.microsoft.com/office/drawing/2014/main" id="{530262F7-0CF1-8814-2372-D74F015AA7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7409" y="2494495"/>
            <a:ext cx="2513849" cy="3015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Plugs connection outline symbol in a circle - Free interface icons">
            <a:extLst>
              <a:ext uri="{FF2B5EF4-FFF2-40B4-BE49-F238E27FC236}">
                <a16:creationId xmlns="" xmlns:a16="http://schemas.microsoft.com/office/drawing/2014/main" id="{D843DAAA-B6CB-2BDC-8B67-6C86E9DBE4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257"/>
          <a:stretch/>
        </p:blipFill>
        <p:spPr bwMode="auto">
          <a:xfrm>
            <a:off x="4675950" y="2246966"/>
            <a:ext cx="1631368" cy="3510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Plugs connection outline symbol in a circle - Free interface icons">
            <a:extLst>
              <a:ext uri="{FF2B5EF4-FFF2-40B4-BE49-F238E27FC236}">
                <a16:creationId xmlns="" xmlns:a16="http://schemas.microsoft.com/office/drawing/2014/main" id="{E6AE5A0C-BEA4-521E-FE4C-84F4DDA317B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627"/>
          <a:stretch/>
        </p:blipFill>
        <p:spPr bwMode="auto">
          <a:xfrm>
            <a:off x="5961956" y="2246966"/>
            <a:ext cx="1327880" cy="3510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461A663B-B474-C93D-79E3-4C1BA09D561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4866" y="2863504"/>
            <a:ext cx="4095498" cy="2303718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="" xmlns:a16="http://schemas.microsoft.com/office/drawing/2014/main" id="{4D6708C9-92D4-A8AB-D92C-7739A128687A}"/>
              </a:ext>
            </a:extLst>
          </p:cNvPr>
          <p:cNvGrpSpPr/>
          <p:nvPr/>
        </p:nvGrpSpPr>
        <p:grpSpPr>
          <a:xfrm>
            <a:off x="373261" y="119959"/>
            <a:ext cx="5164897" cy="830997"/>
            <a:chOff x="373261" y="119959"/>
            <a:chExt cx="5164897" cy="830997"/>
          </a:xfrm>
        </p:grpSpPr>
        <p:sp>
          <p:nvSpPr>
            <p:cNvPr id="9" name="TextBox 8">
              <a:extLst>
                <a:ext uri="{FF2B5EF4-FFF2-40B4-BE49-F238E27FC236}">
                  <a16:creationId xmlns="" xmlns:a16="http://schemas.microsoft.com/office/drawing/2014/main" id="{105B791A-4265-ACD2-ED42-7D2A386E758E}"/>
                </a:ext>
              </a:extLst>
            </p:cNvPr>
            <p:cNvSpPr txBox="1"/>
            <p:nvPr/>
          </p:nvSpPr>
          <p:spPr>
            <a:xfrm>
              <a:off x="1508184" y="119959"/>
              <a:ext cx="402997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4800" dirty="0">
                  <a:solidFill>
                    <a:srgbClr val="FFFF00"/>
                  </a:solidFill>
                  <a:latin typeface="Lato Black" panose="020F0A02020204030203" pitchFamily="34" charset="0"/>
                </a:rPr>
                <a:t>POWER BI</a:t>
              </a:r>
            </a:p>
          </p:txBody>
        </p:sp>
        <p:pic>
          <p:nvPicPr>
            <p:cNvPr id="10" name="Picture 9">
              <a:extLst>
                <a:ext uri="{FF2B5EF4-FFF2-40B4-BE49-F238E27FC236}">
                  <a16:creationId xmlns="" xmlns:a16="http://schemas.microsoft.com/office/drawing/2014/main" id="{CB691991-C41B-CFEF-7AEE-431CB4C11AC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3261" y="185235"/>
              <a:ext cx="1245234" cy="70044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59948971"/>
      </p:ext>
    </p:extLst>
  </p:cSld>
  <p:clrMapOvr>
    <a:masterClrMapping/>
  </p:clrMapOvr>
  <p:transition spd="slow">
    <p:cov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CB8C99B5-5307-E4E4-0E72-DE3504B0A583}"/>
              </a:ext>
            </a:extLst>
          </p:cNvPr>
          <p:cNvSpPr txBox="1"/>
          <p:nvPr/>
        </p:nvSpPr>
        <p:spPr>
          <a:xfrm>
            <a:off x="157903" y="185738"/>
            <a:ext cx="1943416" cy="58477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3200" b="1" dirty="0">
                <a:solidFill>
                  <a:srgbClr val="FFFF00"/>
                </a:solidFill>
              </a:rPr>
              <a:t>POWER BI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EE843937-0252-6408-B4D5-06B6D9531E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544" y="185738"/>
            <a:ext cx="1039601" cy="584775"/>
          </a:xfrm>
          <a:prstGeom prst="rect">
            <a:avLst/>
          </a:prstGeom>
          <a:effectLst/>
        </p:spPr>
      </p:pic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D0964A68-B481-FDBC-FBB9-52425E65C6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049" y="832889"/>
            <a:ext cx="10399902" cy="583937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61182BE8-DA25-2F0A-6FC9-D781928C7BD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11725" y="47938"/>
            <a:ext cx="810833" cy="584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926839"/>
      </p:ext>
    </p:extLst>
  </p:cSld>
  <p:clrMapOvr>
    <a:masterClrMapping/>
  </p:clrMapOvr>
  <p:transition spd="slow">
    <p:cov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CB8C99B5-5307-E4E4-0E72-DE3504B0A583}"/>
              </a:ext>
            </a:extLst>
          </p:cNvPr>
          <p:cNvSpPr txBox="1"/>
          <p:nvPr/>
        </p:nvSpPr>
        <p:spPr>
          <a:xfrm>
            <a:off x="157903" y="185738"/>
            <a:ext cx="1943416" cy="58477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3200" b="1" dirty="0">
                <a:solidFill>
                  <a:srgbClr val="FFFF00"/>
                </a:solidFill>
              </a:rPr>
              <a:t>POWER BI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EE843937-0252-6408-B4D5-06B6D9531E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544" y="185738"/>
            <a:ext cx="1039601" cy="584775"/>
          </a:xfrm>
          <a:prstGeom prst="rect">
            <a:avLst/>
          </a:prstGeom>
          <a:effectLst/>
        </p:spPr>
      </p:pic>
      <p:pic>
        <p:nvPicPr>
          <p:cNvPr id="3" name="Picture 2">
            <a:extLst>
              <a:ext uri="{FF2B5EF4-FFF2-40B4-BE49-F238E27FC236}">
                <a16:creationId xmlns="" xmlns:a16="http://schemas.microsoft.com/office/drawing/2014/main" id="{73AA4628-0EE3-7EC4-C370-2A0B2BE648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574" y="850340"/>
            <a:ext cx="10380852" cy="582192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DF94FEC7-38DB-BB24-114F-273EF90A7B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11725" y="47938"/>
            <a:ext cx="810833" cy="584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719717"/>
      </p:ext>
    </p:extLst>
  </p:cSld>
  <p:clrMapOvr>
    <a:masterClrMapping/>
  </p:clrMapOvr>
  <p:transition spd="slow">
    <p:cover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CB8C99B5-5307-E4E4-0E72-DE3504B0A583}"/>
              </a:ext>
            </a:extLst>
          </p:cNvPr>
          <p:cNvSpPr txBox="1"/>
          <p:nvPr/>
        </p:nvSpPr>
        <p:spPr>
          <a:xfrm>
            <a:off x="157903" y="185738"/>
            <a:ext cx="1943416" cy="58477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3200" b="1" dirty="0">
                <a:solidFill>
                  <a:srgbClr val="FFFF00"/>
                </a:solidFill>
              </a:rPr>
              <a:t>POWER BI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EE843937-0252-6408-B4D5-06B6D9531E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544" y="185738"/>
            <a:ext cx="1039601" cy="584775"/>
          </a:xfrm>
          <a:prstGeom prst="rect">
            <a:avLst/>
          </a:prstGeom>
          <a:effectLst/>
        </p:spPr>
      </p:pic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A90D7939-6504-7430-B6E9-29AEB10BAE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286" y="827541"/>
            <a:ext cx="10409427" cy="584472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03BC04EE-8041-7D9D-CA19-298D6848300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11725" y="47938"/>
            <a:ext cx="810833" cy="584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695337"/>
      </p:ext>
    </p:extLst>
  </p:cSld>
  <p:clrMapOvr>
    <a:masterClrMapping/>
  </p:clrMapOvr>
  <p:transition spd="slow">
    <p:cover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F2186767-6DBF-43ED-0334-E389A8026F75}"/>
              </a:ext>
            </a:extLst>
          </p:cNvPr>
          <p:cNvSpPr txBox="1"/>
          <p:nvPr/>
        </p:nvSpPr>
        <p:spPr>
          <a:xfrm>
            <a:off x="127778" y="18514"/>
            <a:ext cx="93972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4000" b="1">
                <a:solidFill>
                  <a:schemeClr val="bg1"/>
                </a:solidFill>
                <a:latin typeface="Lato Black" panose="020F0A02020204030203" pitchFamily="34" charset="0"/>
              </a:defRPr>
            </a:lvl1pPr>
          </a:lstStyle>
          <a:p>
            <a:r>
              <a:rPr lang="en-IN" sz="3200" b="1" dirty="0">
                <a:solidFill>
                  <a:schemeClr val="bg1"/>
                </a:solidFill>
                <a:latin typeface="Lato Black" panose="020F0A02020204030203" pitchFamily="34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4F56E1CB-C23A-8E6C-4322-BE518ECDDE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21577" y="157765"/>
            <a:ext cx="1342645" cy="96831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1058CA99-5896-CF6F-E3D9-47410F2EEA1D}"/>
              </a:ext>
            </a:extLst>
          </p:cNvPr>
          <p:cNvSpPr txBox="1"/>
          <p:nvPr/>
        </p:nvSpPr>
        <p:spPr>
          <a:xfrm>
            <a:off x="127778" y="781050"/>
            <a:ext cx="3629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u="sng" kern="100" dirty="0"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highlight>
                  <a:srgbClr val="008000"/>
                </a:highlight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DASHBOARD 1: SUMMARY</a:t>
            </a:r>
            <a:endParaRPr lang="en-IN" sz="2400" kern="100" dirty="0">
              <a:solidFill>
                <a:schemeClr val="accent4">
                  <a:lumMod val="60000"/>
                  <a:lumOff val="40000"/>
                </a:schemeClr>
              </a:solidFill>
              <a:effectLst/>
              <a:highlight>
                <a:srgbClr val="008000"/>
              </a:highlight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0E3EF215-20BB-527A-E72D-12F6F9355EC2}"/>
              </a:ext>
            </a:extLst>
          </p:cNvPr>
          <p:cNvSpPr txBox="1"/>
          <p:nvPr/>
        </p:nvSpPr>
        <p:spPr>
          <a:xfrm>
            <a:off x="228600" y="1371600"/>
            <a:ext cx="11835622" cy="54046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kern="100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Key Performance Indicators (KPIs) Requirements:</a:t>
            </a:r>
            <a:endParaRPr lang="en-IN" sz="2400" kern="100" dirty="0">
              <a:solidFill>
                <a:schemeClr val="accent2">
                  <a:lumMod val="60000"/>
                  <a:lumOff val="4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IN" sz="1800" b="1" kern="100" dirty="0">
                <a:solidFill>
                  <a:srgbClr val="FFFF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Total Loan Applications:</a:t>
            </a:r>
            <a:r>
              <a:rPr lang="en-IN" sz="1800" kern="100" dirty="0">
                <a:solidFill>
                  <a:srgbClr val="FFFF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IN" sz="1800" kern="100" dirty="0">
                <a:solidFill>
                  <a:schemeClr val="accent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We need to calculate the total number of loan applications received during a specified period. Additionally, it is essential to monitor the Month-to-Date (MTD) Loan Applications and track changes Month-over-Month (MoM).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IN" b="1" kern="100" dirty="0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Total Funded Amount: </a:t>
            </a:r>
            <a:r>
              <a:rPr lang="en-IN" sz="1800" kern="100" dirty="0">
                <a:solidFill>
                  <a:schemeClr val="accent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Understanding the total amount of funds disbursed as loans is crucial. We also want to keep an eye on the MTD Total Funded Amount and analyse the Month-over-Month (MoM) changes in this metric.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IN" b="1" kern="100" dirty="0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Total Amount Received: </a:t>
            </a:r>
            <a:r>
              <a:rPr lang="en-IN" sz="1800" kern="100" dirty="0">
                <a:solidFill>
                  <a:schemeClr val="accent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Tracking the total amount received from borrowers is essential for assessing the bank's cash flow and loan repayment. We should analyse the Month-to-Date (MTD) Total Amount Received and observe the Month-over-Month (MoM) changes.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IN" b="1" kern="100" dirty="0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Average Interest Rate: </a:t>
            </a:r>
            <a:r>
              <a:rPr lang="en-IN" sz="1800" kern="100" dirty="0">
                <a:solidFill>
                  <a:schemeClr val="accent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Calculating the average interest rate across all loans, MTD, and monitoring the Month-over-Month (MoM) variations in interest rates will provide insights into our lending portfolio's overall cost.</a:t>
            </a: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</a:pPr>
            <a:r>
              <a:rPr lang="en-IN" b="1" kern="100" dirty="0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Average Debt-to-Income Ratio (DTI): </a:t>
            </a:r>
            <a:r>
              <a:rPr lang="en-IN" sz="1800" kern="100" dirty="0">
                <a:solidFill>
                  <a:schemeClr val="accent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Evaluating the average DTI for our borrowers helps us gauge their financial health. We need to compute the average DTI for all loans, MTD, and track Month-over-Month (MoM) fluctuations.</a:t>
            </a:r>
          </a:p>
        </p:txBody>
      </p:sp>
    </p:spTree>
    <p:extLst>
      <p:ext uri="{BB962C8B-B14F-4D97-AF65-F5344CB8AC3E}">
        <p14:creationId xmlns:p14="http://schemas.microsoft.com/office/powerpoint/2010/main" val="2377672083"/>
      </p:ext>
    </p:extLst>
  </p:cSld>
  <p:clrMapOvr>
    <a:masterClrMapping/>
  </p:clrMapOvr>
  <p:transition spd="slow">
    <p:cover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F2186767-6DBF-43ED-0334-E389A8026F75}"/>
              </a:ext>
            </a:extLst>
          </p:cNvPr>
          <p:cNvSpPr txBox="1"/>
          <p:nvPr/>
        </p:nvSpPr>
        <p:spPr>
          <a:xfrm>
            <a:off x="127778" y="57150"/>
            <a:ext cx="93972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4000" b="1">
                <a:solidFill>
                  <a:schemeClr val="bg1"/>
                </a:solidFill>
                <a:latin typeface="Lato Black" panose="020F0A02020204030203" pitchFamily="34" charset="0"/>
              </a:defRPr>
            </a:lvl1pPr>
          </a:lstStyle>
          <a:p>
            <a:r>
              <a:rPr lang="en-IN" sz="3200" b="1" dirty="0">
                <a:solidFill>
                  <a:schemeClr val="bg1"/>
                </a:solidFill>
                <a:latin typeface="Lato Black" panose="020F0A02020204030203" pitchFamily="34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4F56E1CB-C23A-8E6C-4322-BE518ECDDE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21577" y="157765"/>
            <a:ext cx="1342645" cy="96831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1058CA99-5896-CF6F-E3D9-47410F2EEA1D}"/>
              </a:ext>
            </a:extLst>
          </p:cNvPr>
          <p:cNvSpPr txBox="1"/>
          <p:nvPr/>
        </p:nvSpPr>
        <p:spPr>
          <a:xfrm>
            <a:off x="127778" y="781050"/>
            <a:ext cx="3629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u="sng" kern="100" dirty="0"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highlight>
                  <a:srgbClr val="008000"/>
                </a:highlight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DASHBOARD 1: SUMMARY</a:t>
            </a:r>
            <a:endParaRPr lang="en-IN" sz="2400" kern="100" dirty="0">
              <a:solidFill>
                <a:schemeClr val="accent4">
                  <a:lumMod val="60000"/>
                  <a:lumOff val="40000"/>
                </a:schemeClr>
              </a:solidFill>
              <a:effectLst/>
              <a:highlight>
                <a:srgbClr val="008000"/>
              </a:highlight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0E3EF215-20BB-527A-E72D-12F6F9355EC2}"/>
              </a:ext>
            </a:extLst>
          </p:cNvPr>
          <p:cNvSpPr txBox="1"/>
          <p:nvPr/>
        </p:nvSpPr>
        <p:spPr>
          <a:xfrm>
            <a:off x="208552" y="1381840"/>
            <a:ext cx="4981575" cy="24961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kern="100" dirty="0">
                <a:solidFill>
                  <a:schemeClr val="accent2">
                    <a:lumMod val="60000"/>
                    <a:lumOff val="4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Good Loan v Bad Loan KPI’s</a:t>
            </a:r>
          </a:p>
          <a:p>
            <a:endParaRPr lang="en-IN" sz="1200" b="1" kern="100" dirty="0">
              <a:solidFill>
                <a:schemeClr val="accent2">
                  <a:lumMod val="60000"/>
                  <a:lumOff val="4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IN" sz="2000" b="1" kern="100" dirty="0">
                <a:solidFill>
                  <a:srgbClr val="00B0F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Good Loan: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1800" b="1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Good Loan Application Percentage</a:t>
            </a:r>
            <a:endParaRPr lang="en-IN" sz="2400" b="1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sz="1800" b="1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Good Loan Applications</a:t>
            </a:r>
            <a:endParaRPr lang="en-IN" sz="2400" b="1" kern="1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sz="1800" b="1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Good Loan Funded Amount</a:t>
            </a:r>
            <a:endParaRPr lang="en-IN" sz="2400" b="1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sz="1800" b="1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Good Loan Total Received Amount</a:t>
            </a:r>
            <a:endParaRPr lang="en-IN" sz="2400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1BC36B1B-46BC-47F8-6C86-7B04F62B2F7F}"/>
              </a:ext>
            </a:extLst>
          </p:cNvPr>
          <p:cNvSpPr txBox="1"/>
          <p:nvPr/>
        </p:nvSpPr>
        <p:spPr>
          <a:xfrm>
            <a:off x="7001874" y="1966615"/>
            <a:ext cx="4391025" cy="19114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kern="100" dirty="0">
                <a:solidFill>
                  <a:srgbClr val="00B0F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Bad Loan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1800" b="1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Bad Loan Application Percentage</a:t>
            </a:r>
            <a:endParaRPr lang="en-IN" sz="2400" b="1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sz="1800" b="1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Bad Loan Applications</a:t>
            </a:r>
            <a:endParaRPr lang="en-IN" sz="2400" b="1" kern="1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sz="1800" b="1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Bad Loan Funded Amount</a:t>
            </a:r>
            <a:endParaRPr lang="en-IN" sz="2400" b="1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sz="1800" b="1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Bad Loan Total Received Amount</a:t>
            </a:r>
            <a:endParaRPr lang="en-IN" sz="2400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E5340642-52BE-80AC-4C5E-F8F223F9BB8F}"/>
              </a:ext>
            </a:extLst>
          </p:cNvPr>
          <p:cNvSpPr txBox="1"/>
          <p:nvPr/>
        </p:nvSpPr>
        <p:spPr>
          <a:xfrm>
            <a:off x="228599" y="4159439"/>
            <a:ext cx="11572876" cy="20261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800"/>
              </a:spcAft>
            </a:pPr>
            <a:r>
              <a:rPr lang="en-IN" sz="2400" b="1" kern="100" dirty="0">
                <a:solidFill>
                  <a:schemeClr val="accent2">
                    <a:lumMod val="60000"/>
                    <a:lumOff val="4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Loan Status Grid View</a:t>
            </a:r>
          </a:p>
          <a:p>
            <a:pPr algn="just">
              <a:spcAft>
                <a:spcPts val="800"/>
              </a:spcAft>
            </a:pPr>
            <a:r>
              <a:rPr lang="en-IN" sz="1900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 order to gain a comprehensive overview of our lending operations and monitor the performance of loans, we aim to create a grid view report categorized by 'Loan Status.’ By providing insights into metrics such as 'Total Loan Applications,' 'Total Funded Amount,' 'Total Amount Received,' 'Month-to-Date (MTD) Funded Amount,' 'MTD Amount Received,' 'Average Interest Rate,' and 'Average Debt-to-Income Ratio (DTI),' this grid view will empower us to make data-driven decisions and assess the health of our loan portfolio.</a:t>
            </a:r>
            <a:endParaRPr lang="en-IN" sz="1900" b="1" kern="1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8389533"/>
      </p:ext>
    </p:extLst>
  </p:cSld>
  <p:clrMapOvr>
    <a:masterClrMapping/>
  </p:clrMapOvr>
  <p:transition spd="slow">
    <p:cover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F2186767-6DBF-43ED-0334-E389A8026F75}"/>
              </a:ext>
            </a:extLst>
          </p:cNvPr>
          <p:cNvSpPr txBox="1"/>
          <p:nvPr/>
        </p:nvSpPr>
        <p:spPr>
          <a:xfrm>
            <a:off x="127778" y="57150"/>
            <a:ext cx="93972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4000" b="1">
                <a:solidFill>
                  <a:schemeClr val="bg1"/>
                </a:solidFill>
                <a:latin typeface="Lato Black" panose="020F0A02020204030203" pitchFamily="34" charset="0"/>
              </a:defRPr>
            </a:lvl1pPr>
          </a:lstStyle>
          <a:p>
            <a:r>
              <a:rPr lang="en-IN" sz="3200" b="1" dirty="0">
                <a:solidFill>
                  <a:schemeClr val="bg1"/>
                </a:solidFill>
                <a:latin typeface="Lato Black" panose="020F0A02020204030203" pitchFamily="34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4F56E1CB-C23A-8E6C-4322-BE518ECDDE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21577" y="157765"/>
            <a:ext cx="1342645" cy="96831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1058CA99-5896-CF6F-E3D9-47410F2EEA1D}"/>
              </a:ext>
            </a:extLst>
          </p:cNvPr>
          <p:cNvSpPr txBox="1"/>
          <p:nvPr/>
        </p:nvSpPr>
        <p:spPr>
          <a:xfrm>
            <a:off x="127778" y="781050"/>
            <a:ext cx="3629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u="sng" kern="100" dirty="0"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highlight>
                  <a:srgbClr val="008000"/>
                </a:highlight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DASHBOARD 2: OVERVIEW</a:t>
            </a:r>
            <a:endParaRPr lang="en-IN" sz="2400" kern="100" dirty="0">
              <a:solidFill>
                <a:schemeClr val="accent4">
                  <a:lumMod val="60000"/>
                  <a:lumOff val="40000"/>
                </a:schemeClr>
              </a:solidFill>
              <a:effectLst/>
              <a:highlight>
                <a:srgbClr val="008000"/>
              </a:highlight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0E3EF215-20BB-527A-E72D-12F6F9355EC2}"/>
              </a:ext>
            </a:extLst>
          </p:cNvPr>
          <p:cNvSpPr txBox="1"/>
          <p:nvPr/>
        </p:nvSpPr>
        <p:spPr>
          <a:xfrm>
            <a:off x="228600" y="1314450"/>
            <a:ext cx="11420475" cy="54014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kern="100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CHARTS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b="1" kern="100" dirty="0"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Monthly Trends by Issue Date (Line Chart):  </a:t>
            </a:r>
            <a:r>
              <a:rPr lang="en-IN" kern="100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</a:t>
            </a:r>
            <a:r>
              <a:rPr lang="en-IN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identify seasonality and long-term trends in lending activities</a:t>
            </a:r>
            <a:endParaRPr lang="en-IN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Regional Analysis by State (Filled Map</a:t>
            </a: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):</a:t>
            </a:r>
            <a:r>
              <a:rPr lang="en-IN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To identify regions with significant lending activity and assess regional disparities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Loan Term Analysis (Donut Chart): </a:t>
            </a:r>
            <a:r>
              <a:rPr lang="en-IN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allow the client to understand the distribution of loans across various term lengths.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Employee Length Analysis (Bar Chart): </a:t>
            </a:r>
            <a:r>
              <a:rPr lang="en-IN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How lending metrics are distributed among borrowers with different employment lengths, helping us assess the impact of employment history on loan applications.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Loan Purpose Breakdown (Bar Chart): </a:t>
            </a:r>
            <a:r>
              <a:rPr lang="en-IN" b="1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</a:t>
            </a:r>
            <a:r>
              <a:rPr lang="en-IN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ill provide a visual breakdown of loan metrics based on the stated purposes of loans, aiding in the understanding of the primary reasons borrowers seek financing.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Home Ownership Analysis (Tree Map): </a:t>
            </a:r>
            <a:r>
              <a:rPr lang="en-IN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For a hierarchical view of how home ownership impacts loan applications and disbursements.</a:t>
            </a:r>
            <a:endParaRPr lang="en-IN" b="1" kern="100" dirty="0">
              <a:solidFill>
                <a:schemeClr val="accent2">
                  <a:lumMod val="60000"/>
                  <a:lumOff val="4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IN" b="1" i="1" u="sng" kern="100" dirty="0">
                <a:solidFill>
                  <a:srgbClr val="FFFF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Metrics to be shown: 'Total Loan Applications,' 'Total Funded Amount,' and 'Total Amount Received'</a:t>
            </a:r>
          </a:p>
        </p:txBody>
      </p:sp>
    </p:spTree>
    <p:extLst>
      <p:ext uri="{BB962C8B-B14F-4D97-AF65-F5344CB8AC3E}">
        <p14:creationId xmlns:p14="http://schemas.microsoft.com/office/powerpoint/2010/main" val="1142964218"/>
      </p:ext>
    </p:extLst>
  </p:cSld>
  <p:clrMapOvr>
    <a:masterClrMapping/>
  </p:clrMapOvr>
  <p:transition spd="slow">
    <p:cover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F2186767-6DBF-43ED-0334-E389A8026F75}"/>
              </a:ext>
            </a:extLst>
          </p:cNvPr>
          <p:cNvSpPr txBox="1"/>
          <p:nvPr/>
        </p:nvSpPr>
        <p:spPr>
          <a:xfrm>
            <a:off x="127778" y="57150"/>
            <a:ext cx="93972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4000" b="1">
                <a:solidFill>
                  <a:schemeClr val="bg1"/>
                </a:solidFill>
                <a:latin typeface="Lato Black" panose="020F0A02020204030203" pitchFamily="34" charset="0"/>
              </a:defRPr>
            </a:lvl1pPr>
          </a:lstStyle>
          <a:p>
            <a:r>
              <a:rPr lang="en-IN" sz="3200" b="1" dirty="0">
                <a:solidFill>
                  <a:schemeClr val="bg1"/>
                </a:solidFill>
                <a:latin typeface="Lato Black" panose="020F0A02020204030203" pitchFamily="34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4F56E1CB-C23A-8E6C-4322-BE518ECDDE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21577" y="157765"/>
            <a:ext cx="1342645" cy="96831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1058CA99-5896-CF6F-E3D9-47410F2EEA1D}"/>
              </a:ext>
            </a:extLst>
          </p:cNvPr>
          <p:cNvSpPr txBox="1"/>
          <p:nvPr/>
        </p:nvSpPr>
        <p:spPr>
          <a:xfrm>
            <a:off x="127778" y="781050"/>
            <a:ext cx="3629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u="sng" kern="100" dirty="0"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highlight>
                  <a:srgbClr val="008000"/>
                </a:highlight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DASHBOARD 3: DETAILS</a:t>
            </a:r>
            <a:endParaRPr lang="en-IN" sz="2400" kern="100" dirty="0">
              <a:solidFill>
                <a:schemeClr val="accent4">
                  <a:lumMod val="60000"/>
                  <a:lumOff val="40000"/>
                </a:schemeClr>
              </a:solidFill>
              <a:effectLst/>
              <a:highlight>
                <a:srgbClr val="008000"/>
              </a:highlight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0E3EF215-20BB-527A-E72D-12F6F9355EC2}"/>
              </a:ext>
            </a:extLst>
          </p:cNvPr>
          <p:cNvSpPr txBox="1"/>
          <p:nvPr/>
        </p:nvSpPr>
        <p:spPr>
          <a:xfrm>
            <a:off x="228600" y="1314450"/>
            <a:ext cx="11420475" cy="44935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kern="100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GRID</a:t>
            </a:r>
          </a:p>
          <a:p>
            <a:pPr algn="just">
              <a:lnSpc>
                <a:spcPct val="150000"/>
              </a:lnSpc>
              <a:spcAft>
                <a:spcPts val="800"/>
              </a:spcAft>
            </a:pPr>
            <a:r>
              <a:rPr lang="en-IN" sz="2000" kern="100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Need for a comprehensive 'Details Dashboard' that provides a consolidated view of all the essential information within our loan data. This Details Dashboard aims to offer a holistic snapshot of key loan-related metrics and data points, enabling users to access critical information efficiently.</a:t>
            </a:r>
          </a:p>
          <a:p>
            <a:pPr algn="just">
              <a:lnSpc>
                <a:spcPct val="150000"/>
              </a:lnSpc>
              <a:spcAft>
                <a:spcPts val="800"/>
              </a:spcAft>
            </a:pPr>
            <a:r>
              <a:rPr lang="en-IN" sz="2000" b="1" i="1" kern="10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Objective:</a:t>
            </a:r>
            <a:endParaRPr lang="en-IN" sz="2000" b="1" kern="100" dirty="0">
              <a:solidFill>
                <a:schemeClr val="accent2">
                  <a:lumMod val="40000"/>
                  <a:lumOff val="6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Aft>
                <a:spcPts val="800"/>
              </a:spcAft>
            </a:pPr>
            <a:r>
              <a:rPr lang="en-IN" sz="2000" i="1" kern="10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primary objective of the Details Dashboard is to provide a comprehensive and user-friendly interface for accessing vital loan data. It will serve as a one-stop solution for users seeking detailed insights into our loan portfolio, borrower profiles, and loan performance.</a:t>
            </a:r>
            <a:endParaRPr lang="en-IN" sz="2000" kern="100" dirty="0">
              <a:solidFill>
                <a:schemeClr val="accent2">
                  <a:lumMod val="40000"/>
                  <a:lumOff val="6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IN" sz="2800" b="1" kern="100" dirty="0">
              <a:solidFill>
                <a:schemeClr val="accent2">
                  <a:lumMod val="60000"/>
                  <a:lumOff val="4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5897694"/>
      </p:ext>
    </p:extLst>
  </p:cSld>
  <p:clrMapOvr>
    <a:masterClrMapping/>
  </p:clrMapOvr>
  <p:transition spd="slow">
    <p:cover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F2186767-6DBF-43ED-0334-E389A8026F75}"/>
              </a:ext>
            </a:extLst>
          </p:cNvPr>
          <p:cNvSpPr txBox="1"/>
          <p:nvPr/>
        </p:nvSpPr>
        <p:spPr>
          <a:xfrm>
            <a:off x="127778" y="57150"/>
            <a:ext cx="93972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4000" b="1">
                <a:solidFill>
                  <a:schemeClr val="bg1"/>
                </a:solidFill>
                <a:latin typeface="Lato Black" panose="020F0A02020204030203" pitchFamily="34" charset="0"/>
              </a:defRPr>
            </a:lvl1pPr>
          </a:lstStyle>
          <a:p>
            <a:r>
              <a:rPr lang="en-IN" sz="3200" dirty="0"/>
              <a:t>FUNCTIONALITIES YOU WILL LEARN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4F56E1CB-C23A-8E6C-4322-BE518ECDDE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21577" y="157765"/>
            <a:ext cx="1342645" cy="96831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F0646760-0DB5-6324-7B30-1D918A65A865}"/>
              </a:ext>
            </a:extLst>
          </p:cNvPr>
          <p:cNvSpPr txBox="1"/>
          <p:nvPr/>
        </p:nvSpPr>
        <p:spPr>
          <a:xfrm>
            <a:off x="1647825" y="1144432"/>
            <a:ext cx="2909078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Creating Database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Creating Table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Select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Datename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Datepart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Cast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Decimal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Month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Hour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Quarter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Day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Group by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Order by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Decimal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Limit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Count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Distinct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CTE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Partition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="" xmlns:a16="http://schemas.microsoft.com/office/drawing/2014/main" id="{64CDC267-C4AE-056C-B4A2-9F57B5EF2822}"/>
              </a:ext>
            </a:extLst>
          </p:cNvPr>
          <p:cNvSpPr txBox="1"/>
          <p:nvPr/>
        </p:nvSpPr>
        <p:spPr>
          <a:xfrm>
            <a:off x="1631335" y="767141"/>
            <a:ext cx="26630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Rockwell Extra Bold" panose="02060903040505020403" pitchFamily="18" charset="0"/>
              </a:rPr>
              <a:t>SQL – MS SQL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8E141D8C-EC5D-22DE-B591-0E506E4E2BA6}"/>
              </a:ext>
            </a:extLst>
          </p:cNvPr>
          <p:cNvSpPr txBox="1"/>
          <p:nvPr/>
        </p:nvSpPr>
        <p:spPr>
          <a:xfrm>
            <a:off x="6400798" y="1140838"/>
            <a:ext cx="30480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Connecting to SQL Server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Data Cleaning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Data Modelling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Data Processing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Power Query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Date Tables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Time Intelligence </a:t>
            </a:r>
            <a:r>
              <a:rPr lang="en-IN" b="1" dirty="0" err="1">
                <a:solidFill>
                  <a:schemeClr val="accent2">
                    <a:lumMod val="20000"/>
                    <a:lumOff val="80000"/>
                  </a:schemeClr>
                </a:solidFill>
              </a:rPr>
              <a:t>Func</a:t>
            </a:r>
            <a:endParaRPr lang="en-IN" b="1" dirty="0">
              <a:solidFill>
                <a:schemeClr val="accent2">
                  <a:lumMod val="20000"/>
                  <a:lumOff val="8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DAX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Date Function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Text Function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Filter Function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Calculate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SUM/ SUMX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Creating KPI’s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New Card Visual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Creating Charts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Formatting visuals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Creating Functions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Navigations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38D39873-19FF-7E34-62AE-83E4D322A2EE}"/>
              </a:ext>
            </a:extLst>
          </p:cNvPr>
          <p:cNvSpPr txBox="1"/>
          <p:nvPr/>
        </p:nvSpPr>
        <p:spPr>
          <a:xfrm>
            <a:off x="6661925" y="767141"/>
            <a:ext cx="17867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solidFill>
                  <a:srgbClr val="FFFF00"/>
                </a:solidFill>
                <a:latin typeface="Rockwell Extra Bold" panose="02060903040505020403" pitchFamily="18" charset="0"/>
              </a:rPr>
              <a:t>POWER BI</a:t>
            </a:r>
          </a:p>
        </p:txBody>
      </p:sp>
    </p:spTree>
    <p:extLst>
      <p:ext uri="{BB962C8B-B14F-4D97-AF65-F5344CB8AC3E}">
        <p14:creationId xmlns:p14="http://schemas.microsoft.com/office/powerpoint/2010/main" val="639557344"/>
      </p:ext>
    </p:extLst>
  </p:cSld>
  <p:clrMapOvr>
    <a:masterClrMapping/>
  </p:clrMapOvr>
  <p:transition spd="slow">
    <p:cover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F2186767-6DBF-43ED-0334-E389A8026F75}"/>
              </a:ext>
            </a:extLst>
          </p:cNvPr>
          <p:cNvSpPr txBox="1"/>
          <p:nvPr/>
        </p:nvSpPr>
        <p:spPr>
          <a:xfrm>
            <a:off x="127778" y="57150"/>
            <a:ext cx="93972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4000" b="1">
                <a:solidFill>
                  <a:schemeClr val="bg1"/>
                </a:solidFill>
                <a:latin typeface="Lato Black" panose="020F0A02020204030203" pitchFamily="34" charset="0"/>
              </a:defRPr>
            </a:lvl1pPr>
          </a:lstStyle>
          <a:p>
            <a:r>
              <a:rPr lang="en-IN" sz="3200" b="1" dirty="0">
                <a:solidFill>
                  <a:schemeClr val="bg1"/>
                </a:solidFill>
                <a:latin typeface="Lato Black" panose="020F0A02020204030203" pitchFamily="34" charset="0"/>
              </a:rPr>
              <a:t>SOFTWARE USED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4F56E1CB-C23A-8E6C-4322-BE518ECDDE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21577" y="157765"/>
            <a:ext cx="1342645" cy="96831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1D777C5A-2770-C97F-8953-E1F5A24DD560}"/>
              </a:ext>
            </a:extLst>
          </p:cNvPr>
          <p:cNvSpPr txBox="1"/>
          <p:nvPr/>
        </p:nvSpPr>
        <p:spPr>
          <a:xfrm>
            <a:off x="327804" y="1366935"/>
            <a:ext cx="8648700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b="1" dirty="0">
                <a:solidFill>
                  <a:srgbClr val="FFC000"/>
                </a:solidFill>
                <a:latin typeface="Century Gothic" panose="020B0502020202020204" pitchFamily="34" charset="0"/>
              </a:rPr>
              <a:t>MS OFFICE/ EXCEL: </a:t>
            </a:r>
            <a:r>
              <a:rPr lang="en-IN" sz="25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VERSION 2021</a:t>
            </a:r>
          </a:p>
          <a:p>
            <a:endParaRPr lang="en-IN" sz="2500" b="1" dirty="0">
              <a:solidFill>
                <a:schemeClr val="accent6">
                  <a:lumMod val="60000"/>
                  <a:lumOff val="40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en-IN" sz="2500" b="1" dirty="0">
                <a:solidFill>
                  <a:srgbClr val="FFC000"/>
                </a:solidFill>
                <a:latin typeface="Century Gothic" panose="020B0502020202020204" pitchFamily="34" charset="0"/>
              </a:rPr>
              <a:t>MS SQL SERVER: 19.0</a:t>
            </a:r>
          </a:p>
          <a:p>
            <a:r>
              <a:rPr lang="en-IN" sz="2500" b="1" dirty="0">
                <a:solidFill>
                  <a:srgbClr val="FFC000"/>
                </a:solidFill>
                <a:latin typeface="Century Gothic" panose="020B0502020202020204" pitchFamily="34" charset="0"/>
              </a:rPr>
              <a:t>SQL SERVER MANAGEMENT STUDIO </a:t>
            </a:r>
            <a:r>
              <a:rPr lang="en-IN" sz="25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– 19.0.20209.0</a:t>
            </a:r>
          </a:p>
          <a:p>
            <a:endParaRPr lang="en-IN" sz="2500" b="1" dirty="0">
              <a:solidFill>
                <a:schemeClr val="accent6">
                  <a:lumMod val="60000"/>
                  <a:lumOff val="40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en-IN" sz="2500" b="1" dirty="0">
                <a:solidFill>
                  <a:srgbClr val="FFFF00"/>
                </a:solidFill>
                <a:latin typeface="Century Gothic" panose="020B0502020202020204" pitchFamily="34" charset="0"/>
              </a:rPr>
              <a:t>POWER BI</a:t>
            </a:r>
            <a:r>
              <a:rPr lang="en-IN" sz="25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: JUNE 2023 Version </a:t>
            </a:r>
          </a:p>
        </p:txBody>
      </p:sp>
    </p:spTree>
    <p:extLst>
      <p:ext uri="{BB962C8B-B14F-4D97-AF65-F5344CB8AC3E}">
        <p14:creationId xmlns:p14="http://schemas.microsoft.com/office/powerpoint/2010/main" val="2444031829"/>
      </p:ext>
    </p:extLst>
  </p:cSld>
  <p:clrMapOvr>
    <a:masterClrMapping/>
  </p:clrMapOvr>
  <p:transition spd="slow">
    <p:cover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4F56E1CB-C23A-8E6C-4322-BE518ECDDE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21577" y="157765"/>
            <a:ext cx="1342645" cy="9683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0AF6B3D0-09AE-4F17-9CB2-07E656EB36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378" y="1568168"/>
            <a:ext cx="10569521" cy="1860832"/>
          </a:xfrm>
          <a:prstGeom prst="rect">
            <a:avLst/>
          </a:prstGeom>
        </p:spPr>
      </p:pic>
      <p:pic>
        <p:nvPicPr>
          <p:cNvPr id="6" name="Picture 6" descr="Like Comment Share PNGs for Free Download">
            <a:extLst>
              <a:ext uri="{FF2B5EF4-FFF2-40B4-BE49-F238E27FC236}">
                <a16:creationId xmlns="" xmlns:a16="http://schemas.microsoft.com/office/drawing/2014/main" id="{82211E88-89CC-1B62-06B7-D043932285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5134" y="2132881"/>
            <a:ext cx="5978106" cy="5978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178182"/>
      </p:ext>
    </p:extLst>
  </p:cSld>
  <p:clrMapOvr>
    <a:masterClrMapping/>
  </p:clrMapOvr>
  <p:transition spd="slow">
    <p:cover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</TotalTime>
  <Words>810</Words>
  <Application>Microsoft Office PowerPoint</Application>
  <PresentationFormat>Widescreen</PresentationFormat>
  <Paragraphs>115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Arial</vt:lpstr>
      <vt:lpstr>Calibri</vt:lpstr>
      <vt:lpstr>Calibri Light</vt:lpstr>
      <vt:lpstr>Century Gothic</vt:lpstr>
      <vt:lpstr>Lato Black</vt:lpstr>
      <vt:lpstr>Rockwell Extra Bold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Swapnajeet A</dc:creator>
  <cp:lastModifiedBy>Microsoft account</cp:lastModifiedBy>
  <cp:revision>17</cp:revision>
  <dcterms:created xsi:type="dcterms:W3CDTF">2023-10-07T01:44:58Z</dcterms:created>
  <dcterms:modified xsi:type="dcterms:W3CDTF">2025-12-25T17:23:42Z</dcterms:modified>
</cp:coreProperties>
</file>